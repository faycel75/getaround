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93f43c54d_1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93f43c54d_10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93f43c54d_1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a93f43c54d_10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93f43c54d_1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a93f43c54d_10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93f43c54d_1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a93f43c54d_10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93f43c54d_1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a93f43c54d_10_9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93f43c54d_1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a93f43c54d_10_10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93f43c54d_1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a93f43c54d_10_10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93f43c54d_1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a93f43c54d_10_1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93f43c54d_1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a93f43c54d_10_1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1" name="Google Shape;91;p19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C68B2"/>
            </a:gs>
            <a:gs pos="100000">
              <a:srgbClr val="162B46"/>
            </a:gs>
          </a:gsLst>
          <a:lin ang="5400012" scaled="0"/>
        </a:gra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5400"/>
              <a:buFont typeface="Calibri"/>
              <a:buNone/>
            </a:pPr>
            <a:r>
              <a:rPr b="1" lang="fr" sz="5400">
                <a:solidFill>
                  <a:srgbClr val="F5F5F5"/>
                </a:solidFill>
              </a:rPr>
              <a:t>GetAround – Analyse &amp; Modélisation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C68B2"/>
            </a:gs>
            <a:gs pos="100000">
              <a:srgbClr val="162B46"/>
            </a:gs>
          </a:gsLst>
          <a:lin ang="5400012" scaled="0"/>
        </a:gra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4000"/>
              <a:buFont typeface="Calibri"/>
              <a:buNone/>
            </a:pPr>
            <a:r>
              <a:rPr b="1" lang="fr" sz="4000">
                <a:solidFill>
                  <a:srgbClr val="F5F5F5"/>
                </a:solidFill>
              </a:rPr>
              <a:t>Résumé Exécutif</a:t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rgbClr val="00E0A8"/>
              </a:buClr>
              <a:buSzPts val="2600"/>
              <a:buChar char="•"/>
            </a:pPr>
            <a:r>
              <a:rPr lang="fr" sz="2600">
                <a:solidFill>
                  <a:srgbClr val="00E0A8"/>
                </a:solidFill>
              </a:rPr>
              <a:t>Retards fréquents → risques de conflits entre locations.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rgbClr val="00E0A8"/>
              </a:buClr>
              <a:buSzPts val="2600"/>
              <a:buChar char="•"/>
            </a:pPr>
            <a:r>
              <a:rPr lang="fr" sz="2600">
                <a:solidFill>
                  <a:srgbClr val="00E0A8"/>
                </a:solidFill>
              </a:rPr>
              <a:t>Analyse data-driven pour définir un buffer optimal.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rgbClr val="00E0A8"/>
              </a:buClr>
              <a:buSzPts val="2600"/>
              <a:buChar char="•"/>
            </a:pPr>
            <a:r>
              <a:rPr lang="fr" sz="2600">
                <a:solidFill>
                  <a:srgbClr val="00E0A8"/>
                </a:solidFill>
              </a:rPr>
              <a:t>Modèle ML performant pour recommander un prix journalier.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rgbClr val="00E0A8"/>
              </a:buClr>
              <a:buSzPts val="2600"/>
              <a:buChar char="•"/>
            </a:pPr>
            <a:r>
              <a:rPr lang="fr" sz="2600">
                <a:solidFill>
                  <a:srgbClr val="00E0A8"/>
                </a:solidFill>
              </a:rPr>
              <a:t>API et dashboard en production.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C68B2"/>
            </a:gs>
            <a:gs pos="100000">
              <a:srgbClr val="162B46"/>
            </a:gs>
          </a:gsLst>
          <a:lin ang="5400012" scaled="0"/>
        </a:gra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4000"/>
              <a:buFont typeface="Calibri"/>
              <a:buNone/>
            </a:pPr>
            <a:r>
              <a:rPr b="1" lang="fr" sz="4000">
                <a:solidFill>
                  <a:srgbClr val="F5F5F5"/>
                </a:solidFill>
              </a:rPr>
              <a:t>Analyse des Retards</a:t>
            </a:r>
            <a:endParaRPr/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rgbClr val="00E0A8"/>
              </a:buClr>
              <a:buSzPts val="2600"/>
              <a:buChar char="•"/>
            </a:pPr>
            <a:r>
              <a:rPr lang="fr" sz="2600">
                <a:solidFill>
                  <a:srgbClr val="00E0A8"/>
                </a:solidFill>
              </a:rPr>
              <a:t>Environ 44% des locations présentent un retard.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rgbClr val="00E0A8"/>
              </a:buClr>
              <a:buSzPts val="2600"/>
              <a:buChar char="•"/>
            </a:pPr>
            <a:r>
              <a:rPr lang="fr" sz="2600">
                <a:solidFill>
                  <a:srgbClr val="00E0A8"/>
                </a:solidFill>
              </a:rPr>
              <a:t>Conflit = retard &gt; tampon entre deux locations.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rgbClr val="00E0A8"/>
              </a:buClr>
              <a:buSzPts val="2600"/>
              <a:buChar char="•"/>
            </a:pPr>
            <a:r>
              <a:rPr lang="fr" sz="2600">
                <a:solidFill>
                  <a:srgbClr val="00E0A8"/>
                </a:solidFill>
              </a:rPr>
              <a:t>Voitures Connect plus exposées aux retards.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C68B2"/>
            </a:gs>
            <a:gs pos="100000">
              <a:srgbClr val="162B46"/>
            </a:gs>
          </a:gsLst>
          <a:lin ang="5400012" scaled="0"/>
        </a:gra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800"/>
              <a:buFont typeface="Calibri"/>
              <a:buNone/>
            </a:pPr>
            <a:r>
              <a:rPr b="1" lang="fr" sz="3800">
                <a:solidFill>
                  <a:srgbClr val="F5F5F5"/>
                </a:solidFill>
              </a:rPr>
              <a:t>Impact du Buffer – Locations Bloquées</a:t>
            </a:r>
            <a:endParaRPr/>
          </a:p>
        </p:txBody>
      </p:sp>
      <p:sp>
        <p:nvSpPr>
          <p:cNvPr id="147" name="Google Shape;147;p28"/>
          <p:cNvSpPr txBox="1"/>
          <p:nvPr/>
        </p:nvSpPr>
        <p:spPr>
          <a:xfrm>
            <a:off x="457200" y="1097280"/>
            <a:ext cx="4114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rgbClr val="00E0A8"/>
                </a:solidFill>
                <a:latin typeface="Calibri"/>
                <a:ea typeface="Calibri"/>
                <a:cs typeface="Calibri"/>
                <a:sym typeface="Calibri"/>
              </a:rPr>
              <a:t>Plus le buffer augmente, plus le nombre de locations bloquées grimpe.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rgbClr val="00E0A8"/>
                </a:solidFill>
                <a:latin typeface="Calibri"/>
                <a:ea typeface="Calibri"/>
                <a:cs typeface="Calibri"/>
                <a:sym typeface="Calibri"/>
              </a:rPr>
              <a:t>Nécessité d'un arbitrage business précis.</a:t>
            </a:r>
            <a:endParaRPr/>
          </a:p>
        </p:txBody>
      </p:sp>
      <p:pic>
        <p:nvPicPr>
          <p:cNvPr descr="v3_chart_bloquees.png" id="148" name="Google Shape;14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0" y="960120"/>
            <a:ext cx="3291840" cy="1881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C68B2"/>
            </a:gs>
            <a:gs pos="100000">
              <a:srgbClr val="162B46"/>
            </a:gs>
          </a:gsLst>
          <a:lin ang="5400012" scaled="0"/>
        </a:gra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800"/>
              <a:buFont typeface="Calibri"/>
              <a:buNone/>
            </a:pPr>
            <a:r>
              <a:rPr b="1" lang="fr" sz="3800">
                <a:solidFill>
                  <a:srgbClr val="F5F5F5"/>
                </a:solidFill>
              </a:rPr>
              <a:t>Impact du Buffer – Conflits Résolus</a:t>
            </a:r>
            <a:endParaRPr/>
          </a:p>
        </p:txBody>
      </p:sp>
      <p:sp>
        <p:nvSpPr>
          <p:cNvPr id="154" name="Google Shape;154;p29"/>
          <p:cNvSpPr txBox="1"/>
          <p:nvPr/>
        </p:nvSpPr>
        <p:spPr>
          <a:xfrm>
            <a:off x="457200" y="1097280"/>
            <a:ext cx="4114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rgbClr val="00E0A8"/>
                </a:solidFill>
                <a:latin typeface="Calibri"/>
                <a:ea typeface="Calibri"/>
                <a:cs typeface="Calibri"/>
                <a:sym typeface="Calibri"/>
              </a:rPr>
              <a:t>Le buffer de 1 à 2 heures résout une part significative des conflits.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rgbClr val="00E0A8"/>
                </a:solidFill>
                <a:latin typeface="Calibri"/>
                <a:ea typeface="Calibri"/>
                <a:cs typeface="Calibri"/>
                <a:sym typeface="Calibri"/>
              </a:rPr>
              <a:t>Équilibre optimal entre QoS et impact business.</a:t>
            </a:r>
            <a:endParaRPr/>
          </a:p>
        </p:txBody>
      </p:sp>
      <p:pic>
        <p:nvPicPr>
          <p:cNvPr descr="v3_chart_conflits_resolus.png" id="155" name="Google Shape;15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0" y="960120"/>
            <a:ext cx="3291840" cy="1881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C68B2"/>
            </a:gs>
            <a:gs pos="100000">
              <a:srgbClr val="162B46"/>
            </a:gs>
          </a:gsLst>
          <a:lin ang="5400012" scaled="0"/>
        </a:gra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4000"/>
              <a:buFont typeface="Calibri"/>
              <a:buNone/>
            </a:pPr>
            <a:r>
              <a:rPr b="1" lang="fr" sz="4000">
                <a:solidFill>
                  <a:srgbClr val="F5F5F5"/>
                </a:solidFill>
              </a:rPr>
              <a:t>Modèle de Pricing</a:t>
            </a:r>
            <a:endParaRPr/>
          </a:p>
        </p:txBody>
      </p:sp>
      <p:sp>
        <p:nvSpPr>
          <p:cNvPr id="161" name="Google Shape;161;p30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rgbClr val="00E0A8"/>
              </a:buClr>
              <a:buSzPts val="2600"/>
              <a:buChar char="•"/>
            </a:pPr>
            <a:r>
              <a:rPr lang="fr" sz="2600">
                <a:solidFill>
                  <a:srgbClr val="00E0A8"/>
                </a:solidFill>
              </a:rPr>
              <a:t>RandomForest sélectionné : robuste et performant.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rgbClr val="00E0A8"/>
              </a:buClr>
              <a:buSzPts val="2600"/>
              <a:buChar char="•"/>
            </a:pPr>
            <a:r>
              <a:rPr lang="fr" sz="2600">
                <a:solidFill>
                  <a:srgbClr val="00E0A8"/>
                </a:solidFill>
              </a:rPr>
              <a:t>MAE ≈ 11–12 €, R² ≈ 0.69.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rgbClr val="00E0A8"/>
              </a:buClr>
              <a:buSzPts val="2600"/>
              <a:buChar char="•"/>
            </a:pPr>
            <a:r>
              <a:rPr lang="fr" sz="2600">
                <a:solidFill>
                  <a:srgbClr val="00E0A8"/>
                </a:solidFill>
              </a:rPr>
              <a:t>Pipeline complet : imputation, encodage, modèle.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C68B2"/>
            </a:gs>
            <a:gs pos="100000">
              <a:srgbClr val="162B46"/>
            </a:gs>
          </a:gsLst>
          <a:lin ang="5400012" scaled="0"/>
        </a:gra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4000"/>
              <a:buFont typeface="Calibri"/>
              <a:buNone/>
            </a:pPr>
            <a:r>
              <a:rPr b="1" lang="fr" sz="4000">
                <a:solidFill>
                  <a:srgbClr val="F5F5F5"/>
                </a:solidFill>
              </a:rPr>
              <a:t>API FastAPI</a:t>
            </a:r>
            <a:endParaRPr/>
          </a:p>
        </p:txBody>
      </p:sp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rgbClr val="00E0A8"/>
              </a:buClr>
              <a:buSzPts val="2600"/>
              <a:buChar char="•"/>
            </a:pPr>
            <a:r>
              <a:rPr lang="fr" sz="2600">
                <a:solidFill>
                  <a:srgbClr val="00E0A8"/>
                </a:solidFill>
              </a:rPr>
              <a:t>Endpoints : / , /health , /predict , /docs.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rgbClr val="00E0A8"/>
              </a:buClr>
              <a:buSzPts val="2600"/>
              <a:buChar char="•"/>
            </a:pPr>
            <a:r>
              <a:rPr lang="fr" sz="2600">
                <a:solidFill>
                  <a:srgbClr val="00E0A8"/>
                </a:solidFill>
              </a:rPr>
              <a:t>Alignement automatique des features.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rgbClr val="00E0A8"/>
              </a:buClr>
              <a:buSzPts val="2600"/>
              <a:buChar char="•"/>
            </a:pPr>
            <a:r>
              <a:rPr lang="fr" sz="2600">
                <a:solidFill>
                  <a:srgbClr val="00E0A8"/>
                </a:solidFill>
              </a:rPr>
              <a:t>Déployée sur Hugging Face</a:t>
            </a:r>
            <a:r>
              <a:rPr lang="fr" sz="2600">
                <a:solidFill>
                  <a:srgbClr val="00E0A8"/>
                </a:solidFill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C68B2"/>
            </a:gs>
            <a:gs pos="100000">
              <a:srgbClr val="162B46"/>
            </a:gs>
          </a:gsLst>
          <a:lin ang="5400012" scaled="0"/>
        </a:gra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4000"/>
              <a:buFont typeface="Calibri"/>
              <a:buNone/>
            </a:pPr>
            <a:r>
              <a:rPr b="1" lang="fr" sz="4000">
                <a:solidFill>
                  <a:srgbClr val="F5F5F5"/>
                </a:solidFill>
              </a:rPr>
              <a:t>Dashboard Produit</a:t>
            </a:r>
            <a:endParaRPr/>
          </a:p>
        </p:txBody>
      </p:sp>
      <p:sp>
        <p:nvSpPr>
          <p:cNvPr id="173" name="Google Shape;173;p32"/>
          <p:cNvSpPr txBox="1"/>
          <p:nvPr>
            <p:ph idx="1" type="body"/>
          </p:nvPr>
        </p:nvSpPr>
        <p:spPr>
          <a:xfrm>
            <a:off x="457200" y="1341325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3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0A8"/>
              </a:buClr>
              <a:buSzPts val="2600"/>
              <a:buChar char="•"/>
            </a:pPr>
            <a:r>
              <a:rPr lang="fr" sz="2600">
                <a:solidFill>
                  <a:srgbClr val="00E0A8"/>
                </a:solidFill>
              </a:rPr>
              <a:t>Analyse Buffer</a:t>
            </a:r>
            <a:endParaRPr sz="2600">
              <a:solidFill>
                <a:srgbClr val="00E0A8"/>
              </a:solidFill>
            </a:endParaRPr>
          </a:p>
          <a:p>
            <a:pPr indent="-3937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E0A8"/>
              </a:buClr>
              <a:buSzPts val="2600"/>
              <a:buChar char="•"/>
            </a:pPr>
            <a:r>
              <a:rPr lang="fr" sz="2600">
                <a:solidFill>
                  <a:srgbClr val="00E0A8"/>
                </a:solidFill>
              </a:rPr>
              <a:t>Pricing ML API</a:t>
            </a:r>
            <a:endParaRPr sz="2600">
              <a:solidFill>
                <a:srgbClr val="00E0A8"/>
              </a:solidFill>
            </a:endParaRPr>
          </a:p>
          <a:p>
            <a:pPr indent="-3937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E0A8"/>
              </a:buClr>
              <a:buSzPts val="2600"/>
              <a:buChar char="•"/>
            </a:pPr>
            <a:r>
              <a:rPr lang="fr" sz="2600">
                <a:solidFill>
                  <a:srgbClr val="00E0A8"/>
                </a:solidFill>
              </a:rPr>
              <a:t>MLOps Explainer</a:t>
            </a:r>
            <a:endParaRPr sz="2600"/>
          </a:p>
          <a:p>
            <a:pPr indent="-3937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E0A8"/>
              </a:buClr>
              <a:buSzPts val="2600"/>
              <a:buChar char="•"/>
            </a:pPr>
            <a:r>
              <a:rPr lang="fr" sz="2600">
                <a:solidFill>
                  <a:srgbClr val="00E0A8"/>
                </a:solidFill>
              </a:rPr>
              <a:t>Calculs en temps réel.</a:t>
            </a:r>
            <a:endParaRPr/>
          </a:p>
          <a:p>
            <a:pPr indent="-3937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E0A8"/>
              </a:buClr>
              <a:buSzPts val="2600"/>
              <a:buChar char="•"/>
            </a:pPr>
            <a:r>
              <a:rPr lang="fr" sz="2600">
                <a:solidFill>
                  <a:srgbClr val="00E0A8"/>
                </a:solidFill>
              </a:rPr>
              <a:t>Support stratégique pour les PM.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C68B2"/>
            </a:gs>
            <a:gs pos="100000">
              <a:srgbClr val="162B46"/>
            </a:gs>
          </a:gsLst>
          <a:lin ang="5400012" scaled="0"/>
        </a:gra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4000"/>
              <a:buFont typeface="Calibri"/>
              <a:buNone/>
            </a:pPr>
            <a:r>
              <a:rPr b="1" lang="fr" sz="4000">
                <a:solidFill>
                  <a:srgbClr val="F5F5F5"/>
                </a:solidFill>
              </a:rPr>
              <a:t>Conclusion</a:t>
            </a:r>
            <a:endParaRPr/>
          </a:p>
        </p:txBody>
      </p:sp>
      <p:sp>
        <p:nvSpPr>
          <p:cNvPr id="179" name="Google Shape;179;p3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rgbClr val="00E0A8"/>
              </a:buClr>
              <a:buSzPts val="2600"/>
              <a:buChar char="•"/>
            </a:pPr>
            <a:r>
              <a:rPr lang="fr" sz="2600">
                <a:solidFill>
                  <a:srgbClr val="00E0A8"/>
                </a:solidFill>
              </a:rPr>
              <a:t>Recommandation produit : buffer optimal 1–2 heures.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rgbClr val="00E0A8"/>
              </a:buClr>
              <a:buSzPts val="2600"/>
              <a:buChar char="•"/>
            </a:pPr>
            <a:r>
              <a:rPr lang="fr" sz="2600">
                <a:solidFill>
                  <a:srgbClr val="00E0A8"/>
                </a:solidFill>
              </a:rPr>
              <a:t>Pipeline ML industrialisé.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rgbClr val="00E0A8"/>
              </a:buClr>
              <a:buSzPts val="2600"/>
              <a:buChar char="•"/>
            </a:pPr>
            <a:r>
              <a:rPr lang="fr" sz="2600">
                <a:solidFill>
                  <a:srgbClr val="00E0A8"/>
                </a:solidFill>
              </a:rPr>
              <a:t>API &amp; dashboard utilisables en production.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